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715000" cx="9144000"/>
  <p:notesSz cx="9144000" cy="5715000"/>
  <p:embeddedFontLst>
    <p:embeddedFont>
      <p:font typeface="Playfair Displ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gUCZKZj2PH0rFQ2XRzoXIecgkC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fairDisplay-bold.fntdata"/><Relationship Id="rId14" Type="http://schemas.openxmlformats.org/officeDocument/2006/relationships/font" Target="fonts/PlayfairDisplay-regular.fntdata"/><Relationship Id="rId17" Type="http://schemas.openxmlformats.org/officeDocument/2006/relationships/font" Target="fonts/PlayfairDisplay-boldItalic.fntdata"/><Relationship Id="rId16" Type="http://schemas.openxmlformats.org/officeDocument/2006/relationships/font" Target="fonts/PlayfairDispl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428625"/>
            <a:ext cx="6096300" cy="2143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714625"/>
            <a:ext cx="73152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914400" y="2714625"/>
            <a:ext cx="73152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/>
          <p:nvPr>
            <p:ph idx="2" type="sldImg"/>
          </p:nvPr>
        </p:nvSpPr>
        <p:spPr>
          <a:xfrm>
            <a:off x="1524300" y="428625"/>
            <a:ext cx="6096300" cy="2143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914400" y="2714625"/>
            <a:ext cx="73152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" name="Google Shape;60;p2:notes"/>
          <p:cNvSpPr/>
          <p:nvPr>
            <p:ph idx="2" type="sldImg"/>
          </p:nvPr>
        </p:nvSpPr>
        <p:spPr>
          <a:xfrm>
            <a:off x="1524300" y="428625"/>
            <a:ext cx="6096300" cy="2143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914400" y="2714625"/>
            <a:ext cx="73152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/>
          <p:nvPr>
            <p:ph idx="2" type="sldImg"/>
          </p:nvPr>
        </p:nvSpPr>
        <p:spPr>
          <a:xfrm>
            <a:off x="1524300" y="428625"/>
            <a:ext cx="6096300" cy="2143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914400" y="2714625"/>
            <a:ext cx="73152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/>
          <p:nvPr>
            <p:ph idx="2" type="sldImg"/>
          </p:nvPr>
        </p:nvSpPr>
        <p:spPr>
          <a:xfrm>
            <a:off x="1524300" y="428625"/>
            <a:ext cx="6096300" cy="2143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914400" y="2714625"/>
            <a:ext cx="73152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p5:notes"/>
          <p:cNvSpPr/>
          <p:nvPr>
            <p:ph idx="2" type="sldImg"/>
          </p:nvPr>
        </p:nvSpPr>
        <p:spPr>
          <a:xfrm>
            <a:off x="1524300" y="428625"/>
            <a:ext cx="6096300" cy="2143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 txBox="1"/>
          <p:nvPr>
            <p:ph idx="1" type="body"/>
          </p:nvPr>
        </p:nvSpPr>
        <p:spPr>
          <a:xfrm>
            <a:off x="914400" y="2714625"/>
            <a:ext cx="73152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7:notes"/>
          <p:cNvSpPr/>
          <p:nvPr>
            <p:ph idx="2" type="sldImg"/>
          </p:nvPr>
        </p:nvSpPr>
        <p:spPr>
          <a:xfrm>
            <a:off x="1524300" y="428625"/>
            <a:ext cx="6096300" cy="2143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914400" y="2714625"/>
            <a:ext cx="73152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6:notes"/>
          <p:cNvSpPr/>
          <p:nvPr>
            <p:ph idx="2" type="sldImg"/>
          </p:nvPr>
        </p:nvSpPr>
        <p:spPr>
          <a:xfrm>
            <a:off x="1524300" y="428625"/>
            <a:ext cx="6096300" cy="2143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39704d4a44_1_0:notes"/>
          <p:cNvSpPr txBox="1"/>
          <p:nvPr>
            <p:ph idx="1" type="body"/>
          </p:nvPr>
        </p:nvSpPr>
        <p:spPr>
          <a:xfrm>
            <a:off x="914400" y="2714625"/>
            <a:ext cx="73152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g339704d4a44_1_0:notes"/>
          <p:cNvSpPr/>
          <p:nvPr>
            <p:ph idx="2" type="sldImg"/>
          </p:nvPr>
        </p:nvSpPr>
        <p:spPr>
          <a:xfrm>
            <a:off x="1524300" y="428625"/>
            <a:ext cx="6096300" cy="21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"/>
          <p:cNvSpPr/>
          <p:nvPr/>
        </p:nvSpPr>
        <p:spPr>
          <a:xfrm>
            <a:off x="0" y="0"/>
            <a:ext cx="180340" cy="5715000"/>
          </a:xfrm>
          <a:custGeom>
            <a:rect b="b" l="l" r="r" t="t"/>
            <a:pathLst>
              <a:path extrusionOk="0" h="5715000" w="180340">
                <a:moveTo>
                  <a:pt x="179832" y="0"/>
                </a:moveTo>
                <a:lnTo>
                  <a:pt x="0" y="0"/>
                </a:lnTo>
                <a:lnTo>
                  <a:pt x="0" y="5715000"/>
                </a:lnTo>
                <a:lnTo>
                  <a:pt x="179832" y="5715000"/>
                </a:lnTo>
                <a:lnTo>
                  <a:pt x="179832" y="0"/>
                </a:lnTo>
                <a:close/>
              </a:path>
            </a:pathLst>
          </a:custGeom>
          <a:solidFill>
            <a:srgbClr val="1F386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9"/>
          <p:cNvSpPr/>
          <p:nvPr/>
        </p:nvSpPr>
        <p:spPr>
          <a:xfrm>
            <a:off x="358140" y="5201411"/>
            <a:ext cx="8426450" cy="0"/>
          </a:xfrm>
          <a:custGeom>
            <a:rect b="b" l="l" r="r" t="t"/>
            <a:pathLst>
              <a:path extrusionOk="0" h="120000" w="8426450">
                <a:moveTo>
                  <a:pt x="0" y="0"/>
                </a:moveTo>
                <a:lnTo>
                  <a:pt x="8426450" y="0"/>
                </a:lnTo>
              </a:path>
            </a:pathLst>
          </a:custGeom>
          <a:noFill/>
          <a:ln cap="flat" cmpd="sng" w="9525">
            <a:solidFill>
              <a:srgbClr val="1F38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9"/>
          <p:cNvSpPr/>
          <p:nvPr/>
        </p:nvSpPr>
        <p:spPr>
          <a:xfrm>
            <a:off x="358140" y="877824"/>
            <a:ext cx="8426450" cy="0"/>
          </a:xfrm>
          <a:custGeom>
            <a:rect b="b" l="l" r="r" t="t"/>
            <a:pathLst>
              <a:path extrusionOk="0" h="120000" w="8426450">
                <a:moveTo>
                  <a:pt x="0" y="0"/>
                </a:moveTo>
                <a:lnTo>
                  <a:pt x="8426450" y="0"/>
                </a:lnTo>
              </a:path>
            </a:pathLst>
          </a:custGeom>
          <a:noFill/>
          <a:ln cap="flat" cmpd="sng" w="9525">
            <a:solidFill>
              <a:srgbClr val="1F38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98171" y="5339829"/>
            <a:ext cx="194022" cy="192557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9"/>
          <p:cNvSpPr txBox="1"/>
          <p:nvPr>
            <p:ph idx="11" type="ftr"/>
          </p:nvPr>
        </p:nvSpPr>
        <p:spPr>
          <a:xfrm>
            <a:off x="4030471" y="5376087"/>
            <a:ext cx="1084579" cy="127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>
                <a:solidFill>
                  <a:srgbClr val="76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0" type="dt"/>
          </p:nvPr>
        </p:nvSpPr>
        <p:spPr>
          <a:xfrm>
            <a:off x="457200" y="5314950"/>
            <a:ext cx="21031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2" type="sldNum"/>
          </p:nvPr>
        </p:nvSpPr>
        <p:spPr>
          <a:xfrm>
            <a:off x="8619490" y="5393994"/>
            <a:ext cx="15240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/>
          <p:nvPr>
            <p:ph type="ctrTitle"/>
          </p:nvPr>
        </p:nvSpPr>
        <p:spPr>
          <a:xfrm>
            <a:off x="418287" y="502361"/>
            <a:ext cx="830742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" type="subTitle"/>
          </p:nvPr>
        </p:nvSpPr>
        <p:spPr>
          <a:xfrm>
            <a:off x="437489" y="3918330"/>
            <a:ext cx="8269020" cy="821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030471" y="5376087"/>
            <a:ext cx="1084579" cy="127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>
                <a:solidFill>
                  <a:srgbClr val="76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0" type="dt"/>
          </p:nvPr>
        </p:nvSpPr>
        <p:spPr>
          <a:xfrm>
            <a:off x="457200" y="5314950"/>
            <a:ext cx="21031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2" type="sldNum"/>
          </p:nvPr>
        </p:nvSpPr>
        <p:spPr>
          <a:xfrm>
            <a:off x="8619490" y="5393994"/>
            <a:ext cx="15240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/>
          <p:nvPr>
            <p:ph type="title"/>
          </p:nvPr>
        </p:nvSpPr>
        <p:spPr>
          <a:xfrm>
            <a:off x="418287" y="502361"/>
            <a:ext cx="830742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rgbClr val="1F386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" type="body"/>
          </p:nvPr>
        </p:nvSpPr>
        <p:spPr>
          <a:xfrm>
            <a:off x="418287" y="1037031"/>
            <a:ext cx="8307425" cy="26752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1" type="ftr"/>
          </p:nvPr>
        </p:nvSpPr>
        <p:spPr>
          <a:xfrm>
            <a:off x="4030471" y="5376087"/>
            <a:ext cx="1084579" cy="127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>
                <a:solidFill>
                  <a:srgbClr val="76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0" type="dt"/>
          </p:nvPr>
        </p:nvSpPr>
        <p:spPr>
          <a:xfrm>
            <a:off x="457200" y="5314950"/>
            <a:ext cx="21031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619490" y="5393994"/>
            <a:ext cx="15240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418287" y="502361"/>
            <a:ext cx="830742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rgbClr val="1F386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457200" y="1314450"/>
            <a:ext cx="397764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4709160" y="1314450"/>
            <a:ext cx="397764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1" type="ftr"/>
          </p:nvPr>
        </p:nvSpPr>
        <p:spPr>
          <a:xfrm>
            <a:off x="4030471" y="5376087"/>
            <a:ext cx="1084579" cy="127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>
                <a:solidFill>
                  <a:srgbClr val="76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idx="10" type="dt"/>
          </p:nvPr>
        </p:nvSpPr>
        <p:spPr>
          <a:xfrm>
            <a:off x="457200" y="5314950"/>
            <a:ext cx="21031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2" type="sldNum"/>
          </p:nvPr>
        </p:nvSpPr>
        <p:spPr>
          <a:xfrm>
            <a:off x="8619490" y="5393994"/>
            <a:ext cx="15240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 txBox="1"/>
          <p:nvPr>
            <p:ph type="title"/>
          </p:nvPr>
        </p:nvSpPr>
        <p:spPr>
          <a:xfrm>
            <a:off x="418287" y="502361"/>
            <a:ext cx="830742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rgbClr val="1F386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11" type="ftr"/>
          </p:nvPr>
        </p:nvSpPr>
        <p:spPr>
          <a:xfrm>
            <a:off x="4030471" y="5376087"/>
            <a:ext cx="1084579" cy="127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>
                <a:solidFill>
                  <a:srgbClr val="76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457200" y="5314950"/>
            <a:ext cx="21031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2" type="sldNum"/>
          </p:nvPr>
        </p:nvSpPr>
        <p:spPr>
          <a:xfrm>
            <a:off x="8619490" y="5393994"/>
            <a:ext cx="15240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/>
          <p:nvPr/>
        </p:nvSpPr>
        <p:spPr>
          <a:xfrm>
            <a:off x="0" y="0"/>
            <a:ext cx="180340" cy="5715000"/>
          </a:xfrm>
          <a:custGeom>
            <a:rect b="b" l="l" r="r" t="t"/>
            <a:pathLst>
              <a:path extrusionOk="0" h="5715000" w="180340">
                <a:moveTo>
                  <a:pt x="179832" y="0"/>
                </a:moveTo>
                <a:lnTo>
                  <a:pt x="0" y="0"/>
                </a:lnTo>
                <a:lnTo>
                  <a:pt x="0" y="5715000"/>
                </a:lnTo>
                <a:lnTo>
                  <a:pt x="179832" y="5715000"/>
                </a:lnTo>
                <a:lnTo>
                  <a:pt x="179832" y="0"/>
                </a:lnTo>
                <a:close/>
              </a:path>
            </a:pathLst>
          </a:custGeom>
          <a:solidFill>
            <a:srgbClr val="1F386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8"/>
          <p:cNvSpPr/>
          <p:nvPr/>
        </p:nvSpPr>
        <p:spPr>
          <a:xfrm>
            <a:off x="358140" y="5201411"/>
            <a:ext cx="8426450" cy="0"/>
          </a:xfrm>
          <a:custGeom>
            <a:rect b="b" l="l" r="r" t="t"/>
            <a:pathLst>
              <a:path extrusionOk="0" h="120000" w="8426450">
                <a:moveTo>
                  <a:pt x="0" y="0"/>
                </a:moveTo>
                <a:lnTo>
                  <a:pt x="8426450" y="0"/>
                </a:lnTo>
              </a:path>
            </a:pathLst>
          </a:custGeom>
          <a:noFill/>
          <a:ln cap="flat" cmpd="sng" w="9525">
            <a:solidFill>
              <a:srgbClr val="1F38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8"/>
          <p:cNvSpPr/>
          <p:nvPr/>
        </p:nvSpPr>
        <p:spPr>
          <a:xfrm>
            <a:off x="358140" y="877824"/>
            <a:ext cx="8426450" cy="0"/>
          </a:xfrm>
          <a:custGeom>
            <a:rect b="b" l="l" r="r" t="t"/>
            <a:pathLst>
              <a:path extrusionOk="0" h="120000" w="8426450">
                <a:moveTo>
                  <a:pt x="0" y="0"/>
                </a:moveTo>
                <a:lnTo>
                  <a:pt x="8426450" y="0"/>
                </a:lnTo>
              </a:path>
            </a:pathLst>
          </a:custGeom>
          <a:noFill/>
          <a:ln cap="flat" cmpd="sng" w="9525">
            <a:solidFill>
              <a:srgbClr val="1F38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9;p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598171" y="5339829"/>
            <a:ext cx="194022" cy="192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51776" y="269774"/>
            <a:ext cx="1440179" cy="50583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8"/>
          <p:cNvSpPr txBox="1"/>
          <p:nvPr>
            <p:ph type="title"/>
          </p:nvPr>
        </p:nvSpPr>
        <p:spPr>
          <a:xfrm>
            <a:off x="418287" y="502361"/>
            <a:ext cx="830742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F386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" type="body"/>
          </p:nvPr>
        </p:nvSpPr>
        <p:spPr>
          <a:xfrm>
            <a:off x="418287" y="1037031"/>
            <a:ext cx="8307425" cy="26752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030471" y="5376087"/>
            <a:ext cx="1084579" cy="127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76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457200" y="5314950"/>
            <a:ext cx="21031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8"/>
          <p:cNvSpPr txBox="1"/>
          <p:nvPr>
            <p:ph idx="12" type="sldNum"/>
          </p:nvPr>
        </p:nvSpPr>
        <p:spPr>
          <a:xfrm>
            <a:off x="8619490" y="5393994"/>
            <a:ext cx="152400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/>
        </p:nvSpPr>
        <p:spPr>
          <a:xfrm>
            <a:off x="8677402" y="5406694"/>
            <a:ext cx="38735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sv-SE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3882133" y="5338726"/>
            <a:ext cx="1379729" cy="135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sv-SE" sz="800" u="none" cap="none" strike="noStrike">
                <a:solidFill>
                  <a:srgbClr val="767070"/>
                </a:solidFill>
                <a:latin typeface="Georgia"/>
                <a:ea typeface="Georgia"/>
                <a:cs typeface="Georgia"/>
                <a:sym typeface="Georgia"/>
              </a:rPr>
              <a:t>LINC-STEM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"/>
          <p:cNvSpPr txBox="1"/>
          <p:nvPr/>
        </p:nvSpPr>
        <p:spPr>
          <a:xfrm>
            <a:off x="2735070" y="2393270"/>
            <a:ext cx="3673856" cy="536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sv-SE" sz="3400" u="none" cap="none" strike="noStrike">
                <a:solidFill>
                  <a:srgbClr val="1F38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Hackathon 202</a:t>
            </a:r>
            <a:r>
              <a:rPr lang="sv-SE" sz="3400">
                <a:solidFill>
                  <a:srgbClr val="1F38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55" name="Google Shape;5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2671" y="269774"/>
            <a:ext cx="1438655" cy="50583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/>
          <p:nvPr/>
        </p:nvSpPr>
        <p:spPr>
          <a:xfrm>
            <a:off x="8456739" y="5270169"/>
            <a:ext cx="480059" cy="349250"/>
          </a:xfrm>
          <a:custGeom>
            <a:rect b="b" l="l" r="r" t="t"/>
            <a:pathLst>
              <a:path extrusionOk="0" h="349250" w="480059">
                <a:moveTo>
                  <a:pt x="480059" y="0"/>
                </a:moveTo>
                <a:lnTo>
                  <a:pt x="0" y="0"/>
                </a:lnTo>
                <a:lnTo>
                  <a:pt x="0" y="348995"/>
                </a:lnTo>
                <a:lnTo>
                  <a:pt x="480059" y="348995"/>
                </a:lnTo>
                <a:lnTo>
                  <a:pt x="48005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3978725" y="3086100"/>
            <a:ext cx="11865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sv-SE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Pre-event</a:t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1776" y="269774"/>
            <a:ext cx="1440179" cy="50583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"/>
          <p:cNvSpPr txBox="1"/>
          <p:nvPr/>
        </p:nvSpPr>
        <p:spPr>
          <a:xfrm>
            <a:off x="418286" y="502361"/>
            <a:ext cx="4077600" cy="22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sv-SE" sz="1800" u="none" cap="none" strike="noStrike">
                <a:solidFill>
                  <a:srgbClr val="1F3863"/>
                </a:solidFill>
                <a:latin typeface="Georgia"/>
                <a:ea typeface="Georgia"/>
                <a:cs typeface="Georgia"/>
                <a:sym typeface="Georgia"/>
              </a:rPr>
              <a:t>Today’s Information</a:t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85750" lvl="0" marL="298450" marR="0" rtl="0" algn="l">
              <a:lnSpc>
                <a:spcPct val="2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sv-SE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General Info</a:t>
            </a:r>
            <a:endParaRPr b="1" i="0" sz="16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98450" marR="0" rtl="0" algn="l">
              <a:lnSpc>
                <a:spcPct val="2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sv-SE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Event Schedule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98450" marR="0" rtl="0" algn="l">
              <a:lnSpc>
                <a:spcPct val="2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sv-SE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Python API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98450" marR="0" rtl="0" algn="l">
              <a:lnSpc>
                <a:spcPct val="2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sv-SE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Example usage</a:t>
            </a:r>
            <a:endParaRPr b="0" i="0" sz="16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" name="Google Shape;64;p2"/>
          <p:cNvSpPr txBox="1"/>
          <p:nvPr>
            <p:ph idx="12" type="sldNum"/>
          </p:nvPr>
        </p:nvSpPr>
        <p:spPr>
          <a:xfrm>
            <a:off x="8619490" y="5393994"/>
            <a:ext cx="152400" cy="8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sv-SE"/>
              <a:t> 1</a:t>
            </a:r>
            <a:endParaRPr/>
          </a:p>
        </p:txBody>
      </p:sp>
      <p:sp>
        <p:nvSpPr>
          <p:cNvPr id="65" name="Google Shape;65;p2"/>
          <p:cNvSpPr txBox="1"/>
          <p:nvPr/>
        </p:nvSpPr>
        <p:spPr>
          <a:xfrm>
            <a:off x="3882133" y="5338726"/>
            <a:ext cx="1379729" cy="135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sv-SE" sz="800" u="none" cap="none" strike="noStrike">
                <a:solidFill>
                  <a:srgbClr val="767070"/>
                </a:solidFill>
                <a:latin typeface="Georgia"/>
                <a:ea typeface="Georgia"/>
                <a:cs typeface="Georgia"/>
                <a:sym typeface="Georgia"/>
              </a:rPr>
              <a:t>LINC-STEM</a:t>
            </a:r>
            <a:endParaRPr b="0" i="0" sz="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1776" y="269774"/>
            <a:ext cx="1440179" cy="50583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 txBox="1"/>
          <p:nvPr/>
        </p:nvSpPr>
        <p:spPr>
          <a:xfrm>
            <a:off x="418286" y="502361"/>
            <a:ext cx="7735200" cy="53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sv-SE" sz="1800" u="none" cap="none" strike="noStrike">
                <a:solidFill>
                  <a:srgbClr val="1F38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General Info</a:t>
            </a:r>
            <a:endParaRPr b="0" i="0" sz="18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sv-SE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quantitative trading teams from SEB and Nordea are attending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Nordea Markets				SEB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200">
                <a:solidFill>
                  <a:schemeClr val="dk1"/>
                </a:solidFill>
              </a:rPr>
              <a:t>Simon Møllegård Larsen, HR Associate		Kristofer Engman, Quant Trader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200">
                <a:solidFill>
                  <a:schemeClr val="dk1"/>
                </a:solidFill>
              </a:rPr>
              <a:t>Louise Drenth, Business Analyst	                      Anton Sjöström, Quant Trader</a:t>
            </a:r>
            <a:endParaRPr sz="12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200">
                <a:solidFill>
                  <a:schemeClr val="dk1"/>
                </a:solidFill>
              </a:rPr>
              <a:t>Théodore Zitouni, Quant Trader                   	Simon Österberg, Chief Quant Trader</a:t>
            </a:r>
            <a:endParaRPr sz="12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200">
                <a:solidFill>
                  <a:schemeClr val="dk1"/>
                </a:solidFill>
              </a:rPr>
              <a:t>Viktor Sambergs, FX Quant Trader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sv-SE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Opportunity to receive interviews from the firms in the morning</a:t>
            </a:r>
            <a:endParaRPr b="0" i="0" sz="16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sv-SE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Dress code is at least business casual (</a:t>
            </a:r>
            <a:r>
              <a:rPr b="1" lang="sv-SE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business formal</a:t>
            </a:r>
            <a:r>
              <a:rPr lang="sv-SE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sv-SE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during the sittning</a:t>
            </a:r>
            <a:r>
              <a:rPr lang="sv-SE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b="1" lang="sv-SE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 jeans</a:t>
            </a:r>
            <a:r>
              <a:rPr lang="sv-SE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Char char="•"/>
            </a:pPr>
            <a:r>
              <a:rPr lang="sv-SE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Remember: they are here for you!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841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" name="Google Shape;72;p3"/>
          <p:cNvSpPr txBox="1"/>
          <p:nvPr>
            <p:ph idx="12" type="sldNum"/>
          </p:nvPr>
        </p:nvSpPr>
        <p:spPr>
          <a:xfrm>
            <a:off x="8619490" y="5393994"/>
            <a:ext cx="152400" cy="8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sv-SE"/>
              <a:t> 1</a:t>
            </a:r>
            <a:endParaRPr/>
          </a:p>
        </p:txBody>
      </p:sp>
      <p:sp>
        <p:nvSpPr>
          <p:cNvPr id="73" name="Google Shape;73;p3"/>
          <p:cNvSpPr txBox="1"/>
          <p:nvPr/>
        </p:nvSpPr>
        <p:spPr>
          <a:xfrm>
            <a:off x="3882133" y="5338726"/>
            <a:ext cx="1379729" cy="135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sv-SE" sz="800" u="none" cap="none" strike="noStrike">
                <a:solidFill>
                  <a:srgbClr val="767070"/>
                </a:solidFill>
                <a:latin typeface="Georgia"/>
                <a:ea typeface="Georgia"/>
                <a:cs typeface="Georgia"/>
                <a:sym typeface="Georgia"/>
              </a:rPr>
              <a:t>LINC-STEM</a:t>
            </a:r>
            <a:endParaRPr b="0" i="0" sz="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1776" y="269774"/>
            <a:ext cx="1440179" cy="50583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"/>
          <p:cNvSpPr txBox="1"/>
          <p:nvPr/>
        </p:nvSpPr>
        <p:spPr>
          <a:xfrm>
            <a:off x="418286" y="502361"/>
            <a:ext cx="7735200" cy="3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sv-SE" sz="1800" u="none" cap="none" strike="noStrike">
                <a:solidFill>
                  <a:srgbClr val="1F38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Schedule of the Event</a:t>
            </a:r>
            <a:endParaRPr sz="1800">
              <a:solidFill>
                <a:srgbClr val="1F3863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solidFill>
                <a:srgbClr val="1F3863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b="0" i="0" lang="sv-SE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08:00 – 08:45	morning interviews</a:t>
            </a:r>
            <a:endParaRPr b="0" i="0" sz="15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b="0" i="0" lang="sv-SE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08:45 – 09:00	check-in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b="0" i="0" lang="sv-SE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09:00 – 10:00	opening words, info, and firm presentations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b="0" i="0" lang="sv-SE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10:00 – 12:00	initial coding session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b="0" i="0" lang="sv-SE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12:00</a:t>
            </a:r>
            <a:r>
              <a:rPr lang="sv-SE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		</a:t>
            </a:r>
            <a:r>
              <a:rPr b="0" i="0" lang="sv-SE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lunch i</a:t>
            </a:r>
            <a:r>
              <a:rPr lang="sv-SE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 served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sv-SE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13:00 </a:t>
            </a:r>
            <a:r>
              <a:rPr b="0" i="0" lang="sv-SE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– </a:t>
            </a:r>
            <a:r>
              <a:rPr lang="sv-SE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15:45</a:t>
            </a:r>
            <a:r>
              <a:rPr b="0" i="0" lang="sv-SE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	trading (you can still </a:t>
            </a:r>
            <a:r>
              <a:rPr lang="sv-SE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code here)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sv-SE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15:50</a:t>
            </a:r>
            <a:r>
              <a:rPr b="0" i="0" lang="sv-SE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– 17:30	team presentations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b="0" i="0" lang="sv-SE" sz="15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17:30 – 1800	judges decide, present, and closing words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sv-SE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18:30 		entrance to Tegnérs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" name="Google Shape;80;p4"/>
          <p:cNvSpPr txBox="1"/>
          <p:nvPr>
            <p:ph idx="12" type="sldNum"/>
          </p:nvPr>
        </p:nvSpPr>
        <p:spPr>
          <a:xfrm>
            <a:off x="8619490" y="5393994"/>
            <a:ext cx="152400" cy="8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sv-SE"/>
              <a:t> 1</a:t>
            </a:r>
            <a:endParaRPr/>
          </a:p>
        </p:txBody>
      </p:sp>
      <p:sp>
        <p:nvSpPr>
          <p:cNvPr id="81" name="Google Shape;81;p4"/>
          <p:cNvSpPr txBox="1"/>
          <p:nvPr/>
        </p:nvSpPr>
        <p:spPr>
          <a:xfrm>
            <a:off x="3882133" y="5338726"/>
            <a:ext cx="1379729" cy="135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sv-SE" sz="800" u="none" cap="none" strike="noStrike">
                <a:solidFill>
                  <a:srgbClr val="767070"/>
                </a:solidFill>
                <a:latin typeface="Georgia"/>
                <a:ea typeface="Georgia"/>
                <a:cs typeface="Georgia"/>
                <a:sym typeface="Georgia"/>
              </a:rPr>
              <a:t>LINC-STEM</a:t>
            </a:r>
            <a:endParaRPr b="0" i="0" sz="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1776" y="269774"/>
            <a:ext cx="1440179" cy="50583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 txBox="1"/>
          <p:nvPr/>
        </p:nvSpPr>
        <p:spPr>
          <a:xfrm>
            <a:off x="418286" y="502361"/>
            <a:ext cx="7735200" cy="3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sv-SE" sz="1800" u="none" cap="none" strike="noStrike">
                <a:solidFill>
                  <a:srgbClr val="1F38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Sittning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F3863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85750" lvl="0" marL="298450" marR="0" rtl="0" algn="l">
              <a:lnSpc>
                <a:spcPct val="2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sv-SE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T-bar 18:30, doors close at 19:00</a:t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98450" marR="0" rtl="0" algn="l">
              <a:lnSpc>
                <a:spcPct val="2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sv-SE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Joined by Nordea, LINC R&amp;A team, and LINC board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98450" marR="0" rtl="0" algn="l">
              <a:lnSpc>
                <a:spcPct val="2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sv-SE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20 years age limit for the club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98450" marR="0" rtl="0" algn="l">
              <a:lnSpc>
                <a:spcPct val="2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sv-SE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Song books can be bought in the lab from board members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2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p5"/>
          <p:cNvSpPr txBox="1"/>
          <p:nvPr>
            <p:ph idx="12" type="sldNum"/>
          </p:nvPr>
        </p:nvSpPr>
        <p:spPr>
          <a:xfrm>
            <a:off x="8619490" y="5393994"/>
            <a:ext cx="152400" cy="8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sv-SE"/>
              <a:t> 1</a:t>
            </a:r>
            <a:endParaRPr/>
          </a:p>
        </p:txBody>
      </p:sp>
      <p:sp>
        <p:nvSpPr>
          <p:cNvPr id="89" name="Google Shape;89;p5"/>
          <p:cNvSpPr txBox="1"/>
          <p:nvPr/>
        </p:nvSpPr>
        <p:spPr>
          <a:xfrm>
            <a:off x="3882133" y="5338726"/>
            <a:ext cx="1379729" cy="135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sv-SE" sz="800" u="none" cap="none" strike="noStrike">
                <a:solidFill>
                  <a:srgbClr val="767070"/>
                </a:solidFill>
                <a:latin typeface="Georgia"/>
                <a:ea typeface="Georgia"/>
                <a:cs typeface="Georgia"/>
                <a:sym typeface="Georgia"/>
              </a:rPr>
              <a:t>LINC-STEM</a:t>
            </a:r>
            <a:endParaRPr b="0" i="0" sz="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1776" y="269774"/>
            <a:ext cx="1440179" cy="50583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 txBox="1"/>
          <p:nvPr/>
        </p:nvSpPr>
        <p:spPr>
          <a:xfrm>
            <a:off x="418286" y="502361"/>
            <a:ext cx="7735200" cy="3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sv-SE" sz="1800" u="none" cap="none" strike="noStrike">
                <a:solidFill>
                  <a:srgbClr val="1F38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Python 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1270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sv-SE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Import hackathon_linc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1270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98450" rtl="0" algn="l">
              <a:lnSpc>
                <a:spcPct val="2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sv-SE" sz="1600">
                <a:solidFill>
                  <a:schemeClr val="dk1"/>
                </a:solidFill>
                <a:highlight>
                  <a:srgbClr val="C0C0C0"/>
                </a:highlight>
                <a:latin typeface="Droid Sans Mono"/>
                <a:ea typeface="Droid Sans Mono"/>
                <a:cs typeface="Droid Sans Mono"/>
                <a:sym typeface="Droid Sans Mono"/>
              </a:rPr>
              <a:t>init(group_token : str) </a:t>
            </a:r>
            <a:r>
              <a:rPr lang="sv-SE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– for initalizing connection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12700" rtl="0" algn="l">
              <a:lnSpc>
                <a:spcPct val="2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sv-SE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Backtesting functions and trading utilities.</a:t>
            </a:r>
            <a:endParaRPr>
              <a:solidFill>
                <a:schemeClr val="dk1"/>
              </a:solidFill>
            </a:endParaRPr>
          </a:p>
          <a:p>
            <a:pPr indent="-285750" lvl="0" marL="298450" rtl="0" algn="l">
              <a:lnSpc>
                <a:spcPct val="2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sv-SE" sz="1600">
                <a:solidFill>
                  <a:schemeClr val="dk1"/>
                </a:solidFill>
                <a:highlight>
                  <a:srgbClr val="C0C0C0"/>
                </a:highlight>
                <a:latin typeface="Droid Sans Mono"/>
                <a:ea typeface="Droid Sans Mono"/>
                <a:cs typeface="Droid Sans Mono"/>
                <a:sym typeface="Droid Sans Mono"/>
              </a:rPr>
              <a:t>get_all_tickers() </a:t>
            </a:r>
            <a:r>
              <a:rPr lang="sv-SE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– retrieves all the available tickers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98450" rtl="0" algn="l">
              <a:lnSpc>
                <a:spcPct val="2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sv-SE" sz="1600">
                <a:solidFill>
                  <a:schemeClr val="dk1"/>
                </a:solidFill>
                <a:highlight>
                  <a:srgbClr val="C0C0C0"/>
                </a:highlight>
                <a:latin typeface="Droid Sans Mono"/>
                <a:ea typeface="Droid Sans Mono"/>
                <a:cs typeface="Droid Sans Mono"/>
                <a:sym typeface="Droid Sans Mono"/>
              </a:rPr>
              <a:t>get_historical_data(days_back : int, ticker : str = None)</a:t>
            </a:r>
            <a:r>
              <a:rPr lang="sv-SE" sz="16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</a:t>
            </a:r>
            <a:r>
              <a:rPr lang="sv-SE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– retrieve block of data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84150" lvl="0" marL="298450" marR="0" rtl="0" algn="l">
              <a:lnSpc>
                <a:spcPct val="2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" name="Google Shape;96;p7"/>
          <p:cNvSpPr txBox="1"/>
          <p:nvPr>
            <p:ph idx="12" type="sldNum"/>
          </p:nvPr>
        </p:nvSpPr>
        <p:spPr>
          <a:xfrm>
            <a:off x="8619490" y="5393994"/>
            <a:ext cx="152400" cy="8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sv-SE"/>
              <a:t> 1</a:t>
            </a:r>
            <a:endParaRPr/>
          </a:p>
        </p:txBody>
      </p:sp>
      <p:sp>
        <p:nvSpPr>
          <p:cNvPr id="97" name="Google Shape;97;p7"/>
          <p:cNvSpPr txBox="1"/>
          <p:nvPr/>
        </p:nvSpPr>
        <p:spPr>
          <a:xfrm>
            <a:off x="3882133" y="5338726"/>
            <a:ext cx="1379729" cy="135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sv-SE" sz="800" u="none" cap="none" strike="noStrike">
                <a:solidFill>
                  <a:srgbClr val="767070"/>
                </a:solidFill>
                <a:latin typeface="Georgia"/>
                <a:ea typeface="Georgia"/>
                <a:cs typeface="Georgia"/>
                <a:sym typeface="Georgia"/>
              </a:rPr>
              <a:t>LINC-STEM</a:t>
            </a:r>
            <a:endParaRPr b="0" i="0" sz="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1776" y="269774"/>
            <a:ext cx="1440179" cy="50583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6"/>
          <p:cNvSpPr txBox="1"/>
          <p:nvPr/>
        </p:nvSpPr>
        <p:spPr>
          <a:xfrm>
            <a:off x="418286" y="502361"/>
            <a:ext cx="7735200" cy="4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sv-SE" sz="1800" u="none" cap="none" strike="noStrike">
                <a:solidFill>
                  <a:srgbClr val="1F38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Python 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F3863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sv-SE" sz="1600">
                <a:solidFill>
                  <a:schemeClr val="dk1"/>
                </a:solidFill>
                <a:highlight>
                  <a:srgbClr val="C0C0C0"/>
                </a:highlight>
                <a:latin typeface="Droid Sans Mono"/>
                <a:ea typeface="Droid Sans Mono"/>
                <a:cs typeface="Droid Sans Mono"/>
                <a:sym typeface="Droid Sans Mono"/>
              </a:rPr>
              <a:t>buy(ticker: str, amount: int, price: Union[int, None] = None, days_to_cancel: int = 30)</a:t>
            </a:r>
            <a:r>
              <a:rPr lang="sv-SE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– places a buy order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sv-SE" sz="1600">
                <a:solidFill>
                  <a:schemeClr val="dk1"/>
                </a:solidFill>
                <a:highlight>
                  <a:srgbClr val="C0C0C0"/>
                </a:highlight>
                <a:latin typeface="Droid Sans Mono"/>
                <a:ea typeface="Droid Sans Mono"/>
                <a:cs typeface="Droid Sans Mono"/>
                <a:sym typeface="Droid Sans Mono"/>
              </a:rPr>
              <a:t>sell(ticker: str, amount: int, price: Union[int, None] = None, days_to_cancel: int = 30)</a:t>
            </a:r>
            <a:r>
              <a:rPr lang="sv-SE" sz="16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</a:t>
            </a:r>
            <a:r>
              <a:rPr lang="sv-SE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– place a sell order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sv-SE" sz="1600">
                <a:solidFill>
                  <a:schemeClr val="dk1"/>
                </a:solidFill>
                <a:highlight>
                  <a:srgbClr val="C0C0C0"/>
                </a:highlight>
                <a:latin typeface="Droid Sans Mono"/>
                <a:ea typeface="Droid Sans Mono"/>
                <a:cs typeface="Droid Sans Mono"/>
                <a:sym typeface="Droid Sans Mono"/>
              </a:rPr>
              <a:t>stoploss(ticker: str, amount: int, price: float, days_to_cancel: int = 30)</a:t>
            </a:r>
            <a:r>
              <a:rPr lang="sv-SE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– place a stoploss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sv-SE" sz="1600">
                <a:solidFill>
                  <a:schemeClr val="dk1"/>
                </a:solidFill>
                <a:highlight>
                  <a:srgbClr val="C0C0C0"/>
                </a:highlight>
                <a:latin typeface="Droid Sans Mono"/>
                <a:ea typeface="Droid Sans Mono"/>
                <a:cs typeface="Droid Sans Mono"/>
                <a:sym typeface="Droid Sans Mono"/>
              </a:rPr>
              <a:t>cancel(order_id: Union[int, None] = None, ticker: Union[str, None] = None)</a:t>
            </a:r>
            <a:r>
              <a:rPr lang="sv-SE" sz="16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</a:t>
            </a:r>
            <a:r>
              <a:rPr lang="sv-SE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– cancel order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84150" lvl="0" marL="298450" marR="0" rtl="0" algn="l">
              <a:lnSpc>
                <a:spcPct val="2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619490" y="5393994"/>
            <a:ext cx="152400" cy="8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sv-SE"/>
              <a:t> 1</a:t>
            </a:r>
            <a:endParaRPr/>
          </a:p>
        </p:txBody>
      </p:sp>
      <p:sp>
        <p:nvSpPr>
          <p:cNvPr id="105" name="Google Shape;105;p6"/>
          <p:cNvSpPr txBox="1"/>
          <p:nvPr/>
        </p:nvSpPr>
        <p:spPr>
          <a:xfrm>
            <a:off x="3882133" y="5338726"/>
            <a:ext cx="1379729" cy="135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sv-SE" sz="800" u="none" cap="none" strike="noStrike">
                <a:solidFill>
                  <a:srgbClr val="767070"/>
                </a:solidFill>
                <a:latin typeface="Georgia"/>
                <a:ea typeface="Georgia"/>
                <a:cs typeface="Georgia"/>
                <a:sym typeface="Georgia"/>
              </a:rPr>
              <a:t>LINC-STEM</a:t>
            </a:r>
            <a:endParaRPr b="0" i="0" sz="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39704d4a44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1776" y="269774"/>
            <a:ext cx="1440179" cy="50583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39704d4a44_1_0"/>
          <p:cNvSpPr txBox="1"/>
          <p:nvPr/>
        </p:nvSpPr>
        <p:spPr>
          <a:xfrm>
            <a:off x="418286" y="502361"/>
            <a:ext cx="7735200" cy="3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sv-SE" sz="1800">
                <a:solidFill>
                  <a:srgbClr val="1F386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is next?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F3863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85750" lvl="0" marL="298450" marR="0" rtl="0" algn="l">
              <a:lnSpc>
                <a:spcPct val="2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sv-SE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API keys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98450" marR="0" rtl="0" algn="l">
              <a:lnSpc>
                <a:spcPct val="2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</a:pPr>
            <a:r>
              <a:rPr lang="sv-SE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Prepare!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98450" marR="0" rtl="0" algn="l">
              <a:lnSpc>
                <a:spcPct val="2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</a:pPr>
            <a:r>
              <a:rPr lang="sv-SE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Team names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298450" marR="0" rtl="0" algn="l">
              <a:lnSpc>
                <a:spcPct val="2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</a:pPr>
            <a:r>
              <a:rPr lang="sv-SE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Questions?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2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2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" name="Google Shape;112;g339704d4a44_1_0"/>
          <p:cNvSpPr txBox="1"/>
          <p:nvPr>
            <p:ph idx="12" type="sldNum"/>
          </p:nvPr>
        </p:nvSpPr>
        <p:spPr>
          <a:xfrm>
            <a:off x="8619490" y="5393994"/>
            <a:ext cx="152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sv-SE"/>
              <a:t> 1</a:t>
            </a:r>
            <a:endParaRPr/>
          </a:p>
        </p:txBody>
      </p:sp>
      <p:sp>
        <p:nvSpPr>
          <p:cNvPr id="113" name="Google Shape;113;g339704d4a44_1_0"/>
          <p:cNvSpPr txBox="1"/>
          <p:nvPr/>
        </p:nvSpPr>
        <p:spPr>
          <a:xfrm>
            <a:off x="3882133" y="5338726"/>
            <a:ext cx="13797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sv-SE" sz="800" u="none" cap="none" strike="noStrike">
                <a:solidFill>
                  <a:srgbClr val="767070"/>
                </a:solidFill>
                <a:latin typeface="Georgia"/>
                <a:ea typeface="Georgia"/>
                <a:cs typeface="Georgia"/>
                <a:sym typeface="Georgia"/>
              </a:rPr>
              <a:t>LINC-STEM</a:t>
            </a:r>
            <a:endParaRPr b="0" i="0" sz="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2021-09-29T16:45:26Z</dcterms:created>
  <dc:creator>Victor Östlund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2020-10-06T00:00:00Z</vt:filetime>
  </property>
  <property fmtid="{D5CDD505-2E9C-101B-9397-08002B2CF9AE}" pid="3" name="Creator">
    <vt:lpwstr>Microsoft® PowerPoint® för Microsoft 365</vt:lpwstr>
  </property>
  <property fmtid="{D5CDD505-2E9C-101B-9397-08002B2CF9AE}" pid="4" name="LastSaved">
    <vt:filetime>2021-09-29T00:00:00Z</vt:filetime>
  </property>
</Properties>
</file>